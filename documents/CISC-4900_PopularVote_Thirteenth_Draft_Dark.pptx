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6" r:id="rId7"/>
    <p:sldId id="267" r:id="rId8"/>
    <p:sldId id="261" r:id="rId9"/>
    <p:sldId id="268" r:id="rId10"/>
    <p:sldId id="269" r:id="rId11"/>
    <p:sldId id="262" r:id="rId12"/>
    <p:sldId id="270" r:id="rId13"/>
    <p:sldId id="271" r:id="rId14"/>
    <p:sldId id="272" r:id="rId15"/>
    <p:sldId id="263" r:id="rId16"/>
    <p:sldId id="264" r:id="rId17"/>
    <p:sldId id="265" r:id="rId1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150" d="100"/>
          <a:sy n="150" d="100"/>
        </p:scale>
        <p:origin x="666" y="-14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54292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mailto:zacherywfrancis@gmail.com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858000"/>
          </a:xfrm>
          <a:prstGeom prst="rect">
            <a:avLst/>
          </a:prstGeom>
          <a:solidFill>
            <a:srgbClr val="0F1216"/>
          </a:solidFill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9692640" y="-1280160"/>
            <a:ext cx="4114800" cy="41148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-1188720" y="4937760"/>
            <a:ext cx="3291840" cy="32918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kern="0" spc="1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POPULAR VOTE</a:t>
            </a:r>
            <a:endParaRPr lang="en-US" sz="460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804672" y="3200400"/>
            <a:ext cx="9601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Private Query Sessions with AI-Powered Clustering</a:t>
            </a:r>
            <a:endParaRPr lang="en-US" sz="19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822960" y="3977640"/>
            <a:ext cx="3840480" cy="0"/>
          </a:xfrm>
          <a:prstGeom prst="line">
            <a:avLst/>
          </a:prstGeom>
          <a:noFill/>
          <a:ln w="12700">
            <a:solidFill>
              <a:srgbClr val="9DB6F2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804672" y="4160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Zachery Francis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804672" y="452628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4900  ·  Fall 2026  ·  Brooklyn College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804672" y="5989320"/>
            <a:ext cx="1737360" cy="38404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804672" y="5989320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v13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743200" y="5989320"/>
            <a:ext cx="5486400" cy="66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github.com/Marqed4/CISC-4900-PopularVote</a:t>
            </a:r>
            <a:endParaRPr lang="en-US" sz="11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https://marqed.it/PopularVote</a:t>
            </a:r>
            <a:endParaRPr lang="en-US" sz="1100" dirty="0">
              <a:solidFill>
                <a:srgbClr val="FFFFFF"/>
              </a:solidFill>
            </a:endParaRPr>
          </a:p>
        </p:txBody>
      </p:sp>
      <p:pic>
        <p:nvPicPr>
          <p:cNvPr id="15" name="Picture 14" descr="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658368"/>
            <a:ext cx="1325880" cy="13258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&amp; Team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information and points of contact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5486400" cy="466344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5486400" cy="50292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1508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</a:t>
            </a:r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2194560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441448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2889504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 / TERM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31520" y="3136392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 4900, Fall 2026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731520" y="358444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INSTITUTION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731520" y="383133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Brooklyn College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731520" y="4279392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731520" y="452628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github.com/Marqed4/CISC-4900-PopularVote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731520" y="4974336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DEPLOYMENT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31520" y="5221224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popularvote.marqed.it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6217920" y="1508760"/>
            <a:ext cx="5486400" cy="466344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217920" y="1508760"/>
            <a:ext cx="5486400" cy="50292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446520" y="150876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Team &amp; Stakeholders</a:t>
            </a:r>
            <a:endParaRPr lang="en-US" sz="1700" dirty="0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6492240" y="2194560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LEAD / DEVELOPER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92240" y="2441448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Zachery Francis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6492240" y="288950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COLLABORATORS/CONTRIBUTORS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492240" y="3072384"/>
            <a:ext cx="50292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senior-project extensions</a:t>
            </a:r>
            <a:endParaRPr lang="en-US" sz="1400" dirty="0">
              <a:solidFill>
                <a:srgbClr val="FFFFFF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app built with Alou Kone, Jonathan Koral, Andrew Li (Intro to SWE)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492240" y="3712464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SUPERVISOR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492240" y="395935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Catherine Chung, Brooklyn College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492240" y="4407408"/>
            <a:ext cx="4937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492240" y="4654296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/>
              </a:rPr>
              <a:t>zacherywfrancis@gmail.com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6492240" y="54406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Elevator Pitch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Motivation, aims, and scope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1124712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777240" y="1783080"/>
            <a:ext cx="106070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is an open-source, privacy-focused live Q&amp;A platform built with fellow students. During a session, participants submit questions anonymously; instead of a moderator sifting through a wall of duplicates, an AI clustering layer (Gemini) condenses similar submissions into a handful of representative questions and pushes them live to the whole room. The project pairs that clustering pipeline with privacy-first session mechanics (anonymous submission, optional Google sign-in, and opt-in end-to-end encrypted sessions, currently in progress) so hosts can run open discussion without exposing who asked what.</a:t>
            </a: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4160520"/>
            <a:ext cx="11247120" cy="96012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822960" y="41605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00" b="1" i="1" dirty="0">
                <a:solidFill>
                  <a:srgbClr val="D9A6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“Private query session with AI-forked clustering / condensing.”</a:t>
            </a:r>
            <a:endParaRPr lang="en-US" sz="2000" dirty="0">
              <a:solidFill>
                <a:srgbClr val="FFFFF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5440680"/>
            <a:ext cx="384048" cy="384048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7724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⇗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1280160" y="5440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2801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github.com/Marqed4/CISC-4900-PopularVote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6263640" y="5440680"/>
            <a:ext cx="384048" cy="384048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6263640" y="54223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⇗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766560" y="5440680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50" dirty="0">
                <a:solidFill>
                  <a:srgbClr val="D9A6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SITE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766560" y="566928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popularvote.marqed.it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 Stack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Software, services, and hosting used on the project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685800" y="182880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1280160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3.1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685800" y="23134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web framework serving the REST API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279392" y="1600200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4507992" y="182880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4507992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5102352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Flask-SocketIO 5.4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507992" y="23134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WebSocket layer for live session updates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8101584" y="1600200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8330184" y="182880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8330184" y="18105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8924544" y="17830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Flask-Limiter 3.9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8330184" y="2313432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to guard submission endpoints from abuse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182112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85800" y="3410712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85800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1280160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 2.31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85800" y="38953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Managed Postgres for sessions, submissions, and clusters, plus Google OAuth sign-in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279392" y="3182112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4507992" y="3410712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4507992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5102352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google-genai 1.50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4507992" y="38953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2.5 Flash for clustering, suggested answers, and chat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101584" y="3182112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8330184" y="3410712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330184" y="33924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924544" y="3364992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5.1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8330184" y="3895344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PDF parsing for document-based input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4764024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685800" y="4992624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685800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1280160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Gunicorn + Eventlet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685800" y="547725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WSGI serving with async worker support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279392" y="4764024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4507992" y="4992624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507992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5102352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Flask-CORS 5.0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4507992" y="547725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 allow-listing across frontend deployments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44" name="Shape 42"/>
          <p:cNvSpPr/>
          <p:nvPr/>
        </p:nvSpPr>
        <p:spPr>
          <a:xfrm>
            <a:off x="8101584" y="4764024"/>
            <a:ext cx="3657600" cy="14173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5" name="Shape 43"/>
          <p:cNvSpPr/>
          <p:nvPr/>
        </p:nvSpPr>
        <p:spPr>
          <a:xfrm>
            <a:off x="8330184" y="4992624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6" name="Text 44"/>
          <p:cNvSpPr txBox="1"/>
          <p:nvPr/>
        </p:nvSpPr>
        <p:spPr>
          <a:xfrm>
            <a:off x="8330184" y="49743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47" name="Text 45"/>
          <p:cNvSpPr txBox="1"/>
          <p:nvPr/>
        </p:nvSpPr>
        <p:spPr>
          <a:xfrm>
            <a:off x="8924544" y="4946904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/ Railway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8" name="Text 46"/>
          <p:cNvSpPr txBox="1"/>
          <p:nvPr/>
        </p:nvSpPr>
        <p:spPr>
          <a:xfrm>
            <a:off x="8330184" y="5477256"/>
            <a:ext cx="3200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for backend + frontend, custom domain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49" name="Text 47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50" name="Text 48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Architecture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sketch 1: how the pieces connect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2834640"/>
            <a:ext cx="2377440" cy="137160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2971800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457200" y="333756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19 SPA</a:t>
            </a:r>
            <a:endParaRPr lang="en-US" sz="1100" dirty="0">
              <a:solidFill>
                <a:srgbClr val="FFFFFF"/>
              </a:solidFill>
            </a:endParaRPr>
          </a:p>
          <a:p>
            <a:pPr marL="0" indent="0" algn="ctr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(Vite static build)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3429000" y="2514600"/>
            <a:ext cx="5303520" cy="219456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3429000" y="265176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 Backend  (app.py)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3657600" y="3063240"/>
            <a:ext cx="10972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365760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892040" y="3063240"/>
            <a:ext cx="10972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489204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126480" y="3063240"/>
            <a:ext cx="10972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612648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7360920" y="3063240"/>
            <a:ext cx="10972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7360920" y="30632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3611880" y="3657600"/>
            <a:ext cx="4937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 (in-memory cache, write-through to Supabase)  •  Flask-SocketIO (live push)  •  Flask-Limiter (rate limiting)  •  Flask-CORS (origin allow-list)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9281160" y="2148840"/>
            <a:ext cx="2423160" cy="105156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9281160" y="228600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Supabase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9281160" y="257860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DB + Auth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9281160" y="3337560"/>
            <a:ext cx="2423160" cy="105156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281160" y="347472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Gemini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9281160" y="3767328"/>
            <a:ext cx="2423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Clustering / condensing AI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2880360" y="3383280"/>
            <a:ext cx="50292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Shape 23"/>
          <p:cNvSpPr/>
          <p:nvPr/>
        </p:nvSpPr>
        <p:spPr>
          <a:xfrm>
            <a:off x="2880360" y="3703320"/>
            <a:ext cx="502920" cy="0"/>
          </a:xfrm>
          <a:prstGeom prst="line">
            <a:avLst/>
          </a:prstGeom>
          <a:noFill/>
          <a:ln w="19050">
            <a:solidFill>
              <a:srgbClr val="9DB6F2"/>
            </a:solidFill>
            <a:prstDash val="solid"/>
            <a:tailEnd type="non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2651760" y="2267712"/>
            <a:ext cx="1737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WebSocket</a:t>
            </a:r>
            <a:endParaRPr lang="en-US" sz="900" dirty="0">
              <a:solidFill>
                <a:srgbClr val="FFFFFF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8732520" y="2743200"/>
            <a:ext cx="548640" cy="0"/>
          </a:xfrm>
          <a:prstGeom prst="line">
            <a:avLst/>
          </a:prstGeom>
          <a:noFill/>
          <a:ln w="19050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8732520" y="3794760"/>
            <a:ext cx="548640" cy="320040"/>
          </a:xfrm>
          <a:prstGeom prst="line">
            <a:avLst/>
          </a:prstGeom>
          <a:noFill/>
          <a:ln w="19050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457200" y="50749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Hosted on Render / Railway  •  gunicorn + eventlet workers  •  custom domain popularvote.marqed.it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cross-origin traffic is restricted to an explicit allow-list (production frontend, local dev); no open CORS.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Backend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1a: the same system at file and module level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6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3453" y="1399031"/>
            <a:ext cx="10244787" cy="415137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1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3181" y="1508760"/>
            <a:ext cx="10025331" cy="393192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623560"/>
            <a:ext cx="11247120" cy="54864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623560"/>
            <a:ext cx="10789920" cy="5486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Every REST route reads and writes through SessionManager, </a:t>
            </a:r>
            <a:r>
              <a:rPr sz="1150" b="1" i="0">
                <a:solidFill>
                  <a:srgbClr val="FFFFFF"/>
                </a:solidFill>
                <a:latin typeface="Calibri"/>
              </a:rPr>
              <a:t>never Supabase directly</a:t>
            </a:r>
            <a:r>
              <a:rPr sz="1150" b="0" i="0">
                <a:solidFill>
                  <a:srgbClr val="FFFFFF"/>
                </a:solidFill>
                <a:latin typeface="Calibri"/>
              </a:rPr>
              <a:t>. Clustering, chat and suggestion calls are skipped entirely for encrypted sessions, so ciphertext is never sent to Gemini.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Backend Class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1b: ownership and call direction between modules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7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53312"/>
            <a:ext cx="4005620" cy="49286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class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3786164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983480" y="1536192"/>
            <a:ext cx="672084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app.py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owns the Flask app, the SocketIO server and the single SessionManager instance, then registers every route blueprint against them.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SessionManager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the only class that touches session state. It keeps an in-memory dict of sessions and writes through to SessionStore, so a route never queries Postgres itself.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ClusteringController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holds all Gemini prompting: full clustering, incremental clustering, suggested answers and follow-up suggestions. It is stateless, which keeps the AI layer swappable.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WebSocketManager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owns room membership and the to_session() broadcast helper, plus the two relay handlers used by encrypted sessions for key exchange.</a:t>
            </a:r>
          </a:p>
          <a:p>
            <a:pPr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SessionStore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the thin Supabase boundary. Swapping the database means rewriting this file and nothing above it.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 Lifecycle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sketch 2: data flow for one submission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1074420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107442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566928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 submits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566928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/sessions/:code/submit via submissions_bp; content must be non-empty and under 500 characters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153412" y="2912364"/>
            <a:ext cx="13716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2295144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2912364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2912364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2404872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check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2404872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Flask-Limiter allows 10 submissions per minute per client, before anything is stored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15" name="Shape 13"/>
          <p:cNvSpPr/>
          <p:nvPr/>
        </p:nvSpPr>
        <p:spPr>
          <a:xfrm>
            <a:off x="3991356" y="2912364"/>
            <a:ext cx="13716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4133088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750308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750308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4242816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Supabase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242816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SessionManager caches the question and writes it through to Postgres; the room gets a live count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21" name="Shape 19"/>
          <p:cNvSpPr/>
          <p:nvPr/>
        </p:nvSpPr>
        <p:spPr>
          <a:xfrm>
            <a:off x="5829300" y="2912364"/>
            <a:ext cx="13716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5971032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Shape 21"/>
          <p:cNvSpPr/>
          <p:nvPr/>
        </p:nvSpPr>
        <p:spPr>
          <a:xfrm>
            <a:off x="6588252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6588252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080760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triggers clustering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6080760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sessions_bp sends the questions to Gemini; later passes merge new ones into existing clusters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27" name="Shape 25"/>
          <p:cNvSpPr/>
          <p:nvPr/>
        </p:nvSpPr>
        <p:spPr>
          <a:xfrm>
            <a:off x="7667244" y="2912364"/>
            <a:ext cx="13716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808976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8426196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8426196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7918704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Broadcast live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7918704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websocket_manager broadcasts session:results to the room over Socket.IO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33" name="Shape 31"/>
          <p:cNvSpPr/>
          <p:nvPr/>
        </p:nvSpPr>
        <p:spPr>
          <a:xfrm>
            <a:off x="9505188" y="2912364"/>
            <a:ext cx="137160" cy="164592"/>
          </a:xfrm>
          <a:prstGeom prst="rightArrow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9646920" y="1828800"/>
            <a:ext cx="1691640" cy="2331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Shape 33"/>
          <p:cNvSpPr/>
          <p:nvPr/>
        </p:nvSpPr>
        <p:spPr>
          <a:xfrm>
            <a:off x="10264140" y="2011680"/>
            <a:ext cx="457200" cy="45720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102641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>
              <a:solidFill>
                <a:srgbClr val="FFFFFF"/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9756648" y="2606040"/>
            <a:ext cx="1472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updates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9756648" y="3108960"/>
            <a:ext cx="14721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97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and participants see the refreshed clusters with no page reload</a:t>
            </a:r>
            <a:endParaRPr lang="en-US" sz="970" dirty="0">
              <a:solidFill>
                <a:srgbClr val="FFFFFF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" y="4526280"/>
            <a:ext cx="11247120" cy="9144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Text 38"/>
          <p:cNvSpPr txBox="1"/>
          <p:nvPr/>
        </p:nvSpPr>
        <p:spPr>
          <a:xfrm>
            <a:off x="777240" y="4526280"/>
            <a:ext cx="10607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Submissions are acknowledged immediately (NFR3 target: under 2 s). Clustering is host-triggered and incremental: new questions merge into existing clusters instead of re-clustering from scratch, and results are pushed to the whole room over Socket.IO. If Gemini fails, the session returns to CLOSED so the host can retry with no submissions lost.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Session Lifecycle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2a: every phase a session can occupy, and what moves 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9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" y="1353312"/>
            <a:ext cx="5209789" cy="49286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3-session-lifecyc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63040"/>
            <a:ext cx="4990333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35040" y="1536192"/>
            <a:ext cx="566928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20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session's phase column is the single source of truth for what the UI shows and which endpoints will accept a call.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OPEN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accepts submissions. The host can close the room, cluster straight from OPEN, or trigger an expansion round that returns to OPEN and takes more questions.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CLUSTERING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a working state, broadcast to the room so participants see progress. If Gemini fails the session falls back to CLOSED rather than dropping anything, and the host retries.</a:t>
            </a:r>
          </a:p>
          <a:p>
            <a:pPr>
              <a:spcAft>
                <a:spcPts val="12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RESULTS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can loop back into CLUSTERING for a re-cluster, which is what makes incremental passes possible mid-session.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A3ACBB"/>
                </a:solidFill>
                <a:latin typeface="Calibri"/>
              </a:rPr>
              <a:t>No submission is ever lost to a phase change: failure paths return to a state the host can act from.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Clustering Pass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2b: one POST /cluster, from host click to live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10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371600"/>
            <a:ext cx="7168896" cy="419366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4-clustering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81328"/>
            <a:ext cx="6949440" cy="397421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26679" y="1536192"/>
            <a:ext cx="3977639" cy="3931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000"/>
              </a:spcAft>
            </a:pPr>
            <a:r>
              <a:rPr sz="1300" b="1" i="0" dirty="0">
                <a:solidFill>
                  <a:srgbClr val="FFFFFF"/>
                </a:solidFill>
                <a:latin typeface="Calibri"/>
              </a:rPr>
              <a:t>Two paths, one endpoint.</a:t>
            </a:r>
          </a:p>
          <a:p>
            <a:pPr>
              <a:spcAft>
                <a:spcPts val="100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If the session already has answered clusters and new submissions since the last pass, only the new questions go to Gemini, to be assigned to an existing cluster or spawn a new one.</a:t>
            </a:r>
          </a:p>
          <a:p>
            <a:pPr>
              <a:spcAft>
                <a:spcPts val="100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Otherwise the pass is a full re-cluster and the session's cluster rows are replaced.</a:t>
            </a:r>
          </a:p>
          <a:p>
            <a:pPr>
              <a:spcAft>
                <a:spcPts val="100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Either way the room gets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session:clustering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first and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session:results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 after, so the host and every participant update without a page reload.</a:t>
            </a:r>
          </a:p>
          <a:p>
            <a:pPr>
              <a:spcAft>
                <a:spcPts val="0"/>
              </a:spcAft>
            </a:pPr>
            <a:r>
              <a:rPr sz="1300" b="0" i="0" dirty="0">
                <a:solidFill>
                  <a:srgbClr val="FFFFFF"/>
                </a:solidFill>
                <a:latin typeface="Calibri"/>
              </a:rPr>
              <a:t>When host notes exist, a second grounded call drafts a suggested answer per cluster and arrives separately as </a:t>
            </a:r>
            <a:r>
              <a:rPr sz="1300" b="0" i="0" dirty="0" err="1">
                <a:solidFill>
                  <a:srgbClr val="FFFFFF"/>
                </a:solidFill>
                <a:latin typeface="Calibri"/>
              </a:rPr>
              <a:t>cluster:suggestions</a:t>
            </a:r>
            <a:r>
              <a:rPr sz="1300" b="0" i="0" dirty="0">
                <a:solidFill>
                  <a:srgbClr val="FFFFFF"/>
                </a:solidFill>
                <a:latin typeface="Calibri"/>
              </a:rPr>
              <a:t>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5669280"/>
            <a:ext cx="11247120" cy="4572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5669280"/>
            <a:ext cx="10789920" cy="4572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50" b="0" i="0">
                <a:solidFill>
                  <a:srgbClr val="FFFFFF"/>
                </a:solidFill>
                <a:latin typeface="Calibri"/>
              </a:rPr>
              <a:t>Incremental clustering keeps token cost and latency flat as a session grows, instead of re-sending every question on every pass.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Conceptual Data Model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sketch 3: core entities, aligned with the live Supabase schema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926080" cy="278892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9260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54864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2221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(PK)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731520" y="2532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session_code  (FK)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731520" y="2843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73152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participant_answer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4617720" y="1691640"/>
            <a:ext cx="2926080" cy="278892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4617720" y="1691640"/>
            <a:ext cx="29260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461772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14" name="Text 12"/>
          <p:cNvSpPr txBox="1"/>
          <p:nvPr/>
        </p:nvSpPr>
        <p:spPr>
          <a:xfrm>
            <a:off x="4800600" y="2221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 (PK)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800600" y="2532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4800600" y="2843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title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480060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host_notes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4800600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curators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8686800" y="1691640"/>
            <a:ext cx="2926080" cy="2788920"/>
          </a:xfrm>
          <a:prstGeom prst="rect">
            <a:avLst/>
          </a:prstGeom>
          <a:ln w="12700">
            <a:solidFill>
              <a:srgbClr val="9DB6F2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8686800" y="1691640"/>
            <a:ext cx="2926080" cy="45720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8686800" y="169164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8869680" y="222199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 (PK)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8869680" y="253288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session_code  (FK)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4" name="Text 22"/>
          <p:cNvSpPr txBox="1"/>
          <p:nvPr/>
        </p:nvSpPr>
        <p:spPr>
          <a:xfrm>
            <a:off x="8869680" y="2843784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representative_query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8869680" y="31546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submission_count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3474720" y="2651760"/>
            <a:ext cx="1143000" cy="0"/>
          </a:xfrm>
          <a:prstGeom prst="line">
            <a:avLst/>
          </a:prstGeom>
          <a:noFill/>
          <a:ln w="22225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3520440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 : 1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7543800" y="2651760"/>
            <a:ext cx="1143000" cy="0"/>
          </a:xfrm>
          <a:prstGeom prst="line">
            <a:avLst/>
          </a:prstGeom>
          <a:noFill/>
          <a:ln w="22225">
            <a:solidFill>
              <a:srgbClr val="9DB6F2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7589520" y="235000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: M</a:t>
            </a:r>
            <a:endParaRPr lang="en-US" sz="1050" dirty="0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548640" y="4754880"/>
            <a:ext cx="11109960" cy="137160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822960" y="4864608"/>
            <a:ext cx="10607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the live Supabase schema (key columns shown)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822960" y="5138928"/>
            <a:ext cx="10607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session owns many submissions and many clusters. Cluster membership is not a foreign key on submissions: each cluster stores its member questions as jsonb ({text, upvoteCount}). Encrypted sessions store ciphertext + nonce as JSON in submissions.content. user_sessions and user_submissions (linked to Supabase Auth) support optional sign-in and are omitted here.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5" name="Row Submission 4"/>
          <p:cNvSpPr txBox="1"/>
          <p:nvPr/>
        </p:nvSpPr>
        <p:spPr>
          <a:xfrm>
            <a:off x="731520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is_curator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6" name="Row Submission 5"/>
          <p:cNvSpPr txBox="1"/>
          <p:nvPr/>
        </p:nvSpPr>
        <p:spPr>
          <a:xfrm>
            <a:off x="731520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created_at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7" name="Row Session 5"/>
          <p:cNvSpPr txBox="1"/>
          <p:nvPr/>
        </p:nvSpPr>
        <p:spPr>
          <a:xfrm>
            <a:off x="4800600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expansion_round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8" name="Row Session 6"/>
          <p:cNvSpPr txBox="1"/>
          <p:nvPr/>
        </p:nvSpPr>
        <p:spPr>
          <a:xfrm>
            <a:off x="4800600" y="4087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encrypted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39" name="Row Cluster 4"/>
          <p:cNvSpPr txBox="1"/>
          <p:nvPr/>
        </p:nvSpPr>
        <p:spPr>
          <a:xfrm>
            <a:off x="8869680" y="3465576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 (jsonb)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40" name="Row Cluster 5"/>
          <p:cNvSpPr txBox="1"/>
          <p:nvPr/>
        </p:nvSpPr>
        <p:spPr>
          <a:xfrm>
            <a:off x="8869680" y="3776472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</a:t>
            </a:r>
            <a:endParaRPr lang="en-US" sz="1150" dirty="0">
              <a:solidFill>
                <a:srgbClr val="FFFFFF"/>
              </a:solidFill>
            </a:endParaRPr>
          </a:p>
        </p:txBody>
      </p:sp>
      <p:sp>
        <p:nvSpPr>
          <p:cNvPr id="41" name="Row Cluster 6"/>
          <p:cNvSpPr txBox="1"/>
          <p:nvPr/>
        </p:nvSpPr>
        <p:spPr>
          <a:xfrm>
            <a:off x="8869680" y="408736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upvote_count</a:t>
            </a:r>
            <a:endParaRPr lang="en-US" sz="115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Live Supabase Schema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3a: the conceptual model as it is actually stored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12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353312"/>
            <a:ext cx="6204914" cy="49286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2-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5985458" cy="470916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858000" y="1536192"/>
            <a:ext cx="4846320" cy="4572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sessions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is the hub. Every other table hangs off its code primary key, which is also the Socket.IO room name, so one identifier covers storage and live delivery.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Cluster membership is not a foreign key.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Each clusters row stores its member questions as jsonb, which keeps a re-cluster a single row replacement instead of a cascade of updates.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submissions.content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holds plaintext for a normal session and a ciphertext plus nonce JSON blob for an encrypted one. The column type never changes, so the encrypted path needed no migration of the write path.</a:t>
            </a:r>
          </a:p>
          <a:p>
            <a:pPr>
              <a:spcAft>
                <a:spcPts val="11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user_sessions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and </a:t>
            </a:r>
            <a:r>
              <a:rPr sz="1300" b="1" i="0">
                <a:solidFill>
                  <a:srgbClr val="FFFFFF"/>
                </a:solidFill>
                <a:latin typeface="Calibri"/>
              </a:rPr>
              <a:t>user_submissions</a:t>
            </a:r>
            <a:r>
              <a:rPr sz="1300" b="0" i="0">
                <a:solidFill>
                  <a:srgbClr val="FFFFFF"/>
                </a:solidFill>
                <a:latin typeface="Calibri"/>
              </a:rPr>
              <a:t> link to Supabase Auth and exist only to support optional sign-in. Anonymous participation touches neither.</a:t>
            </a:r>
          </a:p>
          <a:p>
            <a:pPr>
              <a:spcAft>
                <a:spcPts val="0"/>
              </a:spcAft>
            </a:pPr>
            <a:r>
              <a:rPr sz="1300" b="0" i="0">
                <a:solidFill>
                  <a:srgbClr val="A3ACBB"/>
                </a:solidFill>
                <a:latin typeface="Calibri"/>
              </a:rPr>
              <a:t>Compare with sketch 3: the conceptual entities survived unchanged, and the additions are all about auth and encryption.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Encrypted Session 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4: key exchange, opaque storage, and client-side clustering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13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877012" y="1371600"/>
            <a:ext cx="8437669" cy="40142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5-encrypted-sessio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6740" y="1481328"/>
            <a:ext cx="8218213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The server relays public keys and the wrapped room key but never holds plaintext key material, so submissions reach Postgres as ciphertext plus nonce.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This is why AI chat and suggestions are disabled for encrypted sessions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: running them would mean handing Gemini ciphertext and calling it input. Clustering moves into the moderator's browser instead.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Curator Promotion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1">
                <a:solidFill>
                  <a:srgbClr val="A3ACBB"/>
                </a:solidFill>
                <a:latin typeface="Calibri"/>
              </a:rPr>
              <a:t>Technical sketch 5: how a participant gains moderation rights mid-session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PopularVote  ·  CISC 4900 First Draft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 i="0">
                <a:solidFill>
                  <a:srgbClr val="A3ACBB"/>
                </a:solidFill>
                <a:latin typeface="Calibri"/>
              </a:rPr>
              <a:t>14 / 17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78188" y="1371600"/>
            <a:ext cx="10235318" cy="4014216"/>
          </a:xfrm>
          <a:prstGeom prst="rect">
            <a:avLst/>
          </a:prstGeom>
          <a:solidFill>
            <a:srgbClr val="0F1216"/>
          </a:solidFill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pic>
        <p:nvPicPr>
          <p:cNvPr id="7" name="Picture 6" descr="06-curator-promo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7916" y="1481328"/>
            <a:ext cx="10015862" cy="379476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457200" y="5577840"/>
            <a:ext cx="11247120" cy="685800"/>
          </a:xfrm>
          <a:prstGeom prst="rect">
            <a:avLst/>
          </a:prstGeom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5577840"/>
            <a:ext cx="10789920" cy="6858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>
              <a:spcAft>
                <a:spcPts val="800"/>
              </a:spcAft>
            </a:pPr>
            <a:r>
              <a:rPr sz="1100" b="0" i="0">
                <a:solidFill>
                  <a:srgbClr val="FFFFFF"/>
                </a:solidFill>
                <a:latin typeface="Calibri"/>
              </a:rPr>
              <a:t>One endpoint toggles: a socket id already in the curators list is demoted, otherwise it is promoted. The updated list is persisted and broadcast to the whole room, and each client unlocks curator-only UI only if it finds its own socket id in that list. </a:t>
            </a:r>
            <a:r>
              <a:rPr sz="1100" b="1" i="0">
                <a:solidFill>
                  <a:srgbClr val="FFFFFF"/>
                </a:solidFill>
                <a:latin typeface="Calibri"/>
              </a:rPr>
              <a:t>Rights are scoped to a live connection, not to an account</a:t>
            </a:r>
            <a:r>
              <a:rPr sz="1100" b="0" i="0">
                <a:solidFill>
                  <a:srgbClr val="FFFFFF"/>
                </a:solidFill>
                <a:latin typeface="Calibri"/>
              </a:rPr>
              <a:t>, which keeps promotion compatible with anonymous participation.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 Update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Toughest obstacle so far, and how the board has evolved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617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5486400" cy="50292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Toughest Bug / Obstacle</a:t>
            </a:r>
            <a:endParaRPr lang="en-US" sz="1550" dirty="0">
              <a:solidFill>
                <a:srgbClr val="FFFFFF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731520" y="2258568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960120" y="2194560"/>
            <a:ext cx="475488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broke: </a:t>
            </a:r>
            <a:r>
              <a:rPr lang="en-US" sz="125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says “respond ONLY with valid JSON, no markdown,” but Gemini can still wrap its answer in ```json fences. json.loads() then raised and the whole clustering request failed.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1" name="Shape 9"/>
          <p:cNvSpPr/>
          <p:nvPr/>
        </p:nvSpPr>
        <p:spPr>
          <a:xfrm>
            <a:off x="731520" y="4773168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60120" y="4709160"/>
            <a:ext cx="47548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Fix: </a:t>
            </a:r>
            <a:r>
              <a:rPr lang="en-US" sz="125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 the fences before parsing and normalize each question to {text, upvoteCount}. A failed run now returns the session to CLOSED, so the host can retry. </a:t>
            </a:r>
            <a:r>
              <a:rPr lang="en-US" sz="1250" b="1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Takeaway: </a:t>
            </a:r>
            <a:r>
              <a:rPr lang="en-US" sz="125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treat LLM output as untrusted input: clean it, parse it, normalize it, and keep a recovery path.</a:t>
            </a:r>
            <a:endParaRPr lang="en-US" sz="1250" dirty="0">
              <a:solidFill>
                <a:srgbClr val="FFFFFF"/>
              </a:solidFill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217920" y="1554480"/>
            <a:ext cx="5486400" cy="46177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  <a:effectLst>
            <a:outerShdw blurRad="76200" dist="25400" dir="5400000" algn="bl" rotWithShape="0">
              <a:srgbClr val="1E2761">
                <a:alpha val="12000"/>
              </a:srgbClr>
            </a:outerShdw>
          </a:effectLst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217920" y="1554480"/>
            <a:ext cx="5486400" cy="50292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6446520" y="1554480"/>
            <a:ext cx="5029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Board Evolution</a:t>
            </a:r>
            <a:endParaRPr lang="en-US" sz="1550" dirty="0">
              <a:solidFill>
                <a:srgbClr val="FFFFF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6492240" y="2359152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6720840" y="22860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did the backlog look like at the start? ]</a:t>
            </a:r>
            <a:endParaRPr lang="en-US" sz="1350" dirty="0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492240" y="3044952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6720840" y="29718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What changed: new columns, labels, splitting epics? ]</a:t>
            </a:r>
            <a:endParaRPr lang="en-US" sz="1350" dirty="0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492240" y="3730752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720840" y="3657600"/>
            <a:ext cx="4846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How does the board reflect the current architecture (sessions / submissions / clustering)? ]</a:t>
            </a:r>
            <a:endParaRPr lang="en-US" sz="135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731520" y="3182112"/>
            <a:ext cx="4937760" cy="1371600"/>
          </a:xfrm>
          <a:prstGeom prst="rect">
            <a:avLst/>
          </a:prstGeom>
          <a:ln w="12700">
            <a:solidFill>
              <a:srgbClr val="3A435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73152" rIns="137160" bIns="73152" rtlCol="0" anchor="ctr"/>
          <a:lstStyle/>
          <a:p>
            <a:pPr algn="l"/>
            <a:r>
              <a:rPr sz="1000" i="1">
                <a:solidFill>
                  <a:srgbClr val="A3ACBB"/>
                </a:solidFill>
                <a:latin typeface="Consolas"/>
              </a:rPr>
              <a:t># managers/clustering_controller.py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def _clean_json(raw):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raw.strip()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re.sub(r'^```json\n?', '', cleaned)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re.sub(r'^```\n?', '', cleaned)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cleaned = re.sub(r'```$', '', cleaned)</a:t>
            </a:r>
          </a:p>
          <a:p>
            <a:pPr algn="l"/>
            <a:r>
              <a:rPr sz="1000" i="0">
                <a:solidFill>
                  <a:srgbClr val="FFFFFF"/>
                </a:solidFill>
                <a:latin typeface="Consolas"/>
              </a:rPr>
              <a:t>    return cleaned.strip()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36576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Tentative Schedule</a:t>
            </a:r>
            <a:endParaRPr lang="en-US" sz="3200" dirty="0">
              <a:solidFill>
                <a:srgbClr val="FFFFFF"/>
              </a:solidFill>
            </a:endParaRPr>
          </a:p>
        </p:txBody>
      </p:sp>
      <p:sp>
        <p:nvSpPr>
          <p:cNvPr id="3" name="Text 1"/>
          <p:cNvSpPr txBox="1"/>
          <p:nvPr/>
        </p:nvSpPr>
        <p:spPr>
          <a:xfrm>
            <a:off x="457200" y="932688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Remainder of the semester: fill in estimates and actuals as weeks complete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11247120" cy="411480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16002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1905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6" name="Text 4"/>
          <p:cNvSpPr txBox="1"/>
          <p:nvPr/>
        </p:nvSpPr>
        <p:spPr>
          <a:xfrm>
            <a:off x="2377440" y="1600200"/>
            <a:ext cx="6583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/ Goal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905256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Est. hrs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8" name="Text 6"/>
          <p:cNvSpPr txBox="1"/>
          <p:nvPr/>
        </p:nvSpPr>
        <p:spPr>
          <a:xfrm>
            <a:off x="10424160" y="1600200"/>
            <a:ext cx="1280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hrs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0" name="Text 8"/>
          <p:cNvSpPr txBox="1"/>
          <p:nvPr/>
        </p:nvSpPr>
        <p:spPr>
          <a:xfrm>
            <a:off x="457200" y="201168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1–3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2377440" y="201168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Phases 1–2: X25519 key exchange and room-key distribution (libsodium), encrypted submissions; run the encrypted-column migration in Supabase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2" name="Text 10"/>
          <p:cNvSpPr txBox="1"/>
          <p:nvPr/>
        </p:nvSpPr>
        <p:spPr>
          <a:xfrm>
            <a:off x="9052560" y="2011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424160" y="2011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457200" y="2578608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457200" y="257860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4–6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6" name="Text 14"/>
          <p:cNvSpPr txBox="1"/>
          <p:nvPr/>
        </p:nvSpPr>
        <p:spPr>
          <a:xfrm>
            <a:off x="2377440" y="2578608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E2E Phases 3–5: client-side clustering in the moderator’s browser (local embedding model), model hosting, and an encrypted-session toggle at session creation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9052560" y="25786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8" name="Text 16"/>
          <p:cNvSpPr txBox="1"/>
          <p:nvPr/>
        </p:nvSpPr>
        <p:spPr>
          <a:xfrm>
            <a:off x="10424160" y="2578608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9" name="Shape 17"/>
          <p:cNvSpPr/>
          <p:nvPr/>
        </p:nvSpPr>
        <p:spPr>
          <a:xfrm>
            <a:off x="457200" y="3145536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0" name="Text 18"/>
          <p:cNvSpPr txBox="1"/>
          <p:nvPr/>
        </p:nvSpPr>
        <p:spPr>
          <a:xfrm>
            <a:off x="457200" y="31455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7–9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2377440" y="3145536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 E2E gaps: room-key durability across moderator reconnects and identity verification for the key exchange; settle TF-IDF vs. local embeddings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2" name="Text 20"/>
          <p:cNvSpPr txBox="1"/>
          <p:nvPr/>
        </p:nvSpPr>
        <p:spPr>
          <a:xfrm>
            <a:off x="9052560" y="31455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10424160" y="3145536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457200" y="3712464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457200" y="371246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10–12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6" name="Text 24"/>
          <p:cNvSpPr txBox="1"/>
          <p:nvPr/>
        </p:nvSpPr>
        <p:spPr>
          <a:xfrm>
            <a:off x="2377440" y="3712464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hashing pipeline research (XOR, bit rotation, FNV, salting vs. SHA-256) and NumPy/pandas analysis features on the Flask backend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9052560" y="37124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8" name="Text 26"/>
          <p:cNvSpPr txBox="1"/>
          <p:nvPr/>
        </p:nvSpPr>
        <p:spPr>
          <a:xfrm>
            <a:off x="10424160" y="3712464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9" name="Shape 27"/>
          <p:cNvSpPr/>
          <p:nvPr/>
        </p:nvSpPr>
        <p:spPr>
          <a:xfrm>
            <a:off x="457200" y="4279392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0" name="Text 28"/>
          <p:cNvSpPr txBox="1"/>
          <p:nvPr/>
        </p:nvSpPr>
        <p:spPr>
          <a:xfrm>
            <a:off x="457200" y="427939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13–14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2377440" y="4279392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against the Requirements v2 non-functional targets, deployment hardening, and docs (the deployment guide is still empty)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9052560" y="42793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10424160" y="4279392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4" name="Shape 32"/>
          <p:cNvSpPr/>
          <p:nvPr/>
        </p:nvSpPr>
        <p:spPr>
          <a:xfrm>
            <a:off x="457200" y="4846320"/>
            <a:ext cx="11247120" cy="566928"/>
          </a:xfrm>
          <a:prstGeom prst="rect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5" name="Text 33"/>
          <p:cNvSpPr txBox="1"/>
          <p:nvPr/>
        </p:nvSpPr>
        <p:spPr>
          <a:xfrm>
            <a:off x="457200" y="484632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Wks 15–16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6" name="Text 34"/>
          <p:cNvSpPr txBox="1"/>
          <p:nvPr/>
        </p:nvSpPr>
        <p:spPr>
          <a:xfrm>
            <a:off x="2377440" y="484632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draft prep and presentation polish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7" name="Text 35"/>
          <p:cNvSpPr txBox="1"/>
          <p:nvPr/>
        </p:nvSpPr>
        <p:spPr>
          <a:xfrm>
            <a:off x="9052560" y="4846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8" name="Text 36"/>
          <p:cNvSpPr txBox="1"/>
          <p:nvPr/>
        </p:nvSpPr>
        <p:spPr>
          <a:xfrm>
            <a:off x="10424160" y="48463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9" name="Shape 37"/>
          <p:cNvSpPr/>
          <p:nvPr/>
        </p:nvSpPr>
        <p:spPr>
          <a:xfrm>
            <a:off x="457200" y="1600200"/>
            <a:ext cx="0" cy="3813048"/>
          </a:xfrm>
          <a:prstGeom prst="line">
            <a:avLst/>
          </a:prstGeom>
          <a:noFill/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0" name="Shape 38"/>
          <p:cNvSpPr/>
          <p:nvPr/>
        </p:nvSpPr>
        <p:spPr>
          <a:xfrm>
            <a:off x="11704320" y="1600200"/>
            <a:ext cx="0" cy="3813048"/>
          </a:xfrm>
          <a:prstGeom prst="line">
            <a:avLst/>
          </a:prstGeom>
          <a:noFill/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1" name="Text 39"/>
          <p:cNvSpPr txBox="1"/>
          <p:nvPr/>
        </p:nvSpPr>
        <p:spPr>
          <a:xfrm>
            <a:off x="457200" y="5596128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Tasks follow the E2E build plan (Phases 1–5) and the future directions in Requirements v2; estimates to be filled in as weeks complete.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42" name="Text 40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43" name="Text 41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1000"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21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4937760"/>
            <a:ext cx="3840480" cy="384048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" name="Shape 1"/>
          <p:cNvSpPr/>
          <p:nvPr/>
        </p:nvSpPr>
        <p:spPr>
          <a:xfrm>
            <a:off x="-1645920" y="-1463040"/>
            <a:ext cx="3108960" cy="310896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4" name="Text 2"/>
          <p:cNvSpPr txBox="1"/>
          <p:nvPr/>
        </p:nvSpPr>
        <p:spPr>
          <a:xfrm>
            <a:off x="457200" y="41148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Learning Outcomes &amp; Future Work</a:t>
            </a:r>
            <a:endParaRPr lang="en-US" sz="3000" dirty="0">
              <a:solidFill>
                <a:srgbClr val="FFFFFF"/>
              </a:solidFill>
            </a:endParaRPr>
          </a:p>
        </p:txBody>
      </p:sp>
      <p:sp>
        <p:nvSpPr>
          <p:cNvPr id="5" name="Text 3"/>
          <p:cNvSpPr txBox="1"/>
          <p:nvPr/>
        </p:nvSpPr>
        <p:spPr>
          <a:xfrm>
            <a:off x="457200" y="96012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Mapping IS learning outcomes to the project, and what's next</a:t>
            </a:r>
            <a:endParaRPr lang="en-US" sz="1300" dirty="0">
              <a:solidFill>
                <a:srgbClr val="FFFFFF"/>
              </a:solidFill>
            </a:endParaRPr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5486400" cy="41605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7" name="Text 5"/>
          <p:cNvSpPr txBox="1"/>
          <p:nvPr/>
        </p:nvSpPr>
        <p:spPr>
          <a:xfrm>
            <a:off x="73152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Systems Outcomes Covered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8" name="Shape 6"/>
          <p:cNvSpPr/>
          <p:nvPr/>
        </p:nvSpPr>
        <p:spPr>
          <a:xfrm>
            <a:off x="777240" y="215798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9" name="Text 7"/>
          <p:cNvSpPr txBox="1"/>
          <p:nvPr/>
        </p:nvSpPr>
        <p:spPr>
          <a:xfrm>
            <a:off x="1005840" y="20482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requirements + architecture diagram (see sketch 1)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0" name="Shape 8"/>
          <p:cNvSpPr/>
          <p:nvPr/>
        </p:nvSpPr>
        <p:spPr>
          <a:xfrm>
            <a:off x="777240" y="270662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1" name="Text 9"/>
          <p:cNvSpPr txBox="1"/>
          <p:nvPr/>
        </p:nvSpPr>
        <p:spPr>
          <a:xfrm>
            <a:off x="1005840" y="2596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flow of a core use case, end to end (see sketch 2)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2" name="Shape 10"/>
          <p:cNvSpPr/>
          <p:nvPr/>
        </p:nvSpPr>
        <p:spPr>
          <a:xfrm>
            <a:off x="777240" y="325526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3" name="Text 11"/>
          <p:cNvSpPr txBox="1"/>
          <p:nvPr/>
        </p:nvSpPr>
        <p:spPr>
          <a:xfrm>
            <a:off x="1005840" y="31455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Conceptual schema for evaluating design trade-offs (see sketch 3)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4" name="Shape 12"/>
          <p:cNvSpPr/>
          <p:nvPr/>
        </p:nvSpPr>
        <p:spPr>
          <a:xfrm>
            <a:off x="777240" y="380390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5" name="Text 13"/>
          <p:cNvSpPr txBox="1"/>
          <p:nvPr/>
        </p:nvSpPr>
        <p:spPr>
          <a:xfrm>
            <a:off x="1005840" y="36941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process: how a live Q&amp;A session actually runs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6" name="Shape 14"/>
          <p:cNvSpPr/>
          <p:nvPr/>
        </p:nvSpPr>
        <p:spPr>
          <a:xfrm>
            <a:off x="777240" y="435254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7" name="Text 15"/>
          <p:cNvSpPr txBox="1"/>
          <p:nvPr/>
        </p:nvSpPr>
        <p:spPr>
          <a:xfrm>
            <a:off x="1005840" y="424281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Alternatives weighed: Node/Express vs. Flask, in-memory vs. Supabase state, Gemini vs. client-side clustering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18" name="Shape 16"/>
          <p:cNvSpPr/>
          <p:nvPr/>
        </p:nvSpPr>
        <p:spPr>
          <a:xfrm>
            <a:off x="777240" y="490118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19" name="Text 17"/>
          <p:cNvSpPr txBox="1"/>
          <p:nvPr/>
        </p:nvSpPr>
        <p:spPr>
          <a:xfrm>
            <a:off x="1005840" y="47914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verify Requirements v2 targets (2 s submit ack, 10/min limit, no plaintext for encrypted sessions)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0" name="Shape 18"/>
          <p:cNvSpPr/>
          <p:nvPr/>
        </p:nvSpPr>
        <p:spPr>
          <a:xfrm>
            <a:off x="6217920" y="1463040"/>
            <a:ext cx="5486400" cy="4160520"/>
          </a:xfrm>
          <a:prstGeom prst="rect">
            <a:avLst/>
          </a:prstGeom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1" name="Text 19"/>
          <p:cNvSpPr txBox="1"/>
          <p:nvPr/>
        </p:nvSpPr>
        <p:spPr>
          <a:xfrm>
            <a:off x="6492240" y="16459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1400" dirty="0">
              <a:solidFill>
                <a:srgbClr val="FFFFFF"/>
              </a:solidFill>
            </a:endParaRPr>
          </a:p>
        </p:txBody>
      </p:sp>
      <p:sp>
        <p:nvSpPr>
          <p:cNvPr id="22" name="Shape 20"/>
          <p:cNvSpPr/>
          <p:nvPr/>
        </p:nvSpPr>
        <p:spPr>
          <a:xfrm>
            <a:off x="6537960" y="215798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3" name="Text 21"/>
          <p:cNvSpPr txBox="1"/>
          <p:nvPr/>
        </p:nvSpPr>
        <p:spPr>
          <a:xfrm>
            <a:off x="6766560" y="204825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Cut by design: AI chat and suggestions in encrypted sessions, since they would send ciphertext to Gemini (FR6.5)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4" name="Shape 22"/>
          <p:cNvSpPr/>
          <p:nvPr/>
        </p:nvSpPr>
        <p:spPr>
          <a:xfrm>
            <a:off x="6537960" y="270662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5" name="Text 23"/>
          <p:cNvSpPr txBox="1"/>
          <p:nvPr/>
        </p:nvSpPr>
        <p:spPr>
          <a:xfrm>
            <a:off x="6766560" y="259689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progress: opt-in end-to-end encrypted sessions. Server-side relay is done; client-side crypto and clustering come next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6" name="Shape 24"/>
          <p:cNvSpPr/>
          <p:nvPr/>
        </p:nvSpPr>
        <p:spPr>
          <a:xfrm>
            <a:off x="6537960" y="325526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7" name="Text 25"/>
          <p:cNvSpPr txBox="1"/>
          <p:nvPr/>
        </p:nvSpPr>
        <p:spPr>
          <a:xfrm>
            <a:off x="6766560" y="314553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Research: client-side hashing pipeline (XOR, rotation, FNV, salting vs. SHA-256): flexibility vs. cryptographic hardness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28" name="Shape 26"/>
          <p:cNvSpPr/>
          <p:nvPr/>
        </p:nvSpPr>
        <p:spPr>
          <a:xfrm>
            <a:off x="6537960" y="3803904"/>
            <a:ext cx="91440" cy="91440"/>
          </a:xfrm>
          <a:prstGeom prst="ellipse">
            <a:avLst/>
          </a:prstGeom>
          <a:ln/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29" name="Text 27"/>
          <p:cNvSpPr txBox="1"/>
          <p:nvPr/>
        </p:nvSpPr>
        <p:spPr>
          <a:xfrm>
            <a:off x="6766560" y="3694176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200" i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Python-side analysis (NumPy/pandas) now that the Flask port is complete</a:t>
            </a:r>
            <a:endParaRPr lang="en-US" sz="1200" dirty="0">
              <a:solidFill>
                <a:srgbClr val="FFFFFF"/>
              </a:solidFill>
            </a:endParaRPr>
          </a:p>
        </p:txBody>
      </p:sp>
      <p:sp>
        <p:nvSpPr>
          <p:cNvPr id="30" name="Shape 28"/>
          <p:cNvSpPr/>
          <p:nvPr/>
        </p:nvSpPr>
        <p:spPr>
          <a:xfrm>
            <a:off x="6492240" y="4434840"/>
            <a:ext cx="4846320" cy="0"/>
          </a:xfrm>
          <a:prstGeom prst="line">
            <a:avLst/>
          </a:prstGeom>
          <a:noFill/>
          <a:ln w="12700">
            <a:solidFill>
              <a:srgbClr val="3A4353"/>
            </a:solidFill>
            <a:prstDash val="solid"/>
          </a:ln>
        </p:spPr>
        <p:txBody>
          <a:bodyPr/>
          <a:lstStyle/>
          <a:p>
            <a:endParaRPr lang="en-US">
              <a:solidFill>
                <a:srgbClr val="FFFFFF"/>
              </a:solidFill>
            </a:endParaRPr>
          </a:p>
        </p:txBody>
      </p:sp>
      <p:sp>
        <p:nvSpPr>
          <p:cNvPr id="31" name="Text 29"/>
          <p:cNvSpPr txBox="1"/>
          <p:nvPr/>
        </p:nvSpPr>
        <p:spPr>
          <a:xfrm>
            <a:off x="6492240" y="4572000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you. Questions welcome.</a:t>
            </a:r>
            <a:endParaRPr lang="en-US" sz="1500" dirty="0">
              <a:solidFill>
                <a:srgbClr val="FFFFFF"/>
              </a:solidFill>
            </a:endParaRPr>
          </a:p>
        </p:txBody>
      </p:sp>
      <p:sp>
        <p:nvSpPr>
          <p:cNvPr id="32" name="Text 30"/>
          <p:cNvSpPr txBox="1"/>
          <p:nvPr/>
        </p:nvSpPr>
        <p:spPr>
          <a:xfrm>
            <a:off x="6492240" y="48920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3ACB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Zachery Francis  •  github.com/Marqed4/CISC-4900-PopularVote</a:t>
            </a:r>
            <a:endParaRPr lang="en-US" sz="1100" dirty="0">
              <a:solidFill>
                <a:srgbClr val="FFFFFF"/>
              </a:solidFill>
            </a:endParaRPr>
          </a:p>
        </p:txBody>
      </p:sp>
      <p:sp>
        <p:nvSpPr>
          <p:cNvPr id="33" name="Text 31"/>
          <p:cNvSpPr txBox="1"/>
          <p:nvPr/>
        </p:nvSpPr>
        <p:spPr>
          <a:xfrm>
            <a:off x="457200" y="647395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PopularVote  ·  CISC 4900 First Draft</a:t>
            </a:r>
            <a:endParaRPr lang="en-US" sz="1000" dirty="0">
              <a:solidFill>
                <a:srgbClr val="FFFFFF"/>
              </a:solidFill>
            </a:endParaRPr>
          </a:p>
        </p:txBody>
      </p:sp>
      <p:sp>
        <p:nvSpPr>
          <p:cNvPr id="34" name="Text 32"/>
          <p:cNvSpPr txBox="1"/>
          <p:nvPr/>
        </p:nvSpPr>
        <p:spPr>
          <a:xfrm>
            <a:off x="11338560" y="647395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17</a:t>
            </a:r>
            <a:endParaRPr lang="en-US" sz="1000" dirty="0">
              <a:solidFill>
                <a:srgbClr val="FFFFFF"/>
              </a:solidFill>
            </a:endParaRPr>
          </a:p>
        </p:txBody>
      </p:sp>
      <p:pic>
        <p:nvPicPr>
          <p:cNvPr id="35" name="Picture 34" descr="Favic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5715000"/>
            <a:ext cx="731520" cy="731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9DB6F2"/>
      </a:hlink>
      <a:folHlink>
        <a:srgbClr val="C2A6E8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2437</Words>
  <Application>Microsoft Office PowerPoint</Application>
  <PresentationFormat>Widescreen</PresentationFormat>
  <Paragraphs>281</Paragraphs>
  <Slides>17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Cambria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Zachery Francis</cp:lastModifiedBy>
  <cp:revision>4</cp:revision>
  <dcterms:created xsi:type="dcterms:W3CDTF">2026-09-14T14:37:13Z</dcterms:created>
  <dcterms:modified xsi:type="dcterms:W3CDTF">2026-09-19T17:25:58Z</dcterms:modified>
</cp:coreProperties>
</file>